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67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baida Kandakji" userId="651c32848610166f" providerId="LiveId" clId="{E7639676-A7AE-433F-8E45-1060BA34D97A}"/>
    <pc:docChg chg="custSel modSld">
      <pc:chgData name="Obaida Kandakji" userId="651c32848610166f" providerId="LiveId" clId="{E7639676-A7AE-433F-8E45-1060BA34D97A}" dt="2026-04-22T03:07:46.284" v="41" actId="6549"/>
      <pc:docMkLst>
        <pc:docMk/>
      </pc:docMkLst>
      <pc:sldChg chg="delSp modSp mod">
        <pc:chgData name="Obaida Kandakji" userId="651c32848610166f" providerId="LiveId" clId="{E7639676-A7AE-433F-8E45-1060BA34D97A}" dt="2026-04-22T03:07:46.284" v="41" actId="6549"/>
        <pc:sldMkLst>
          <pc:docMk/>
          <pc:sldMk cId="0" sldId="256"/>
        </pc:sldMkLst>
        <pc:spChg chg="mod">
          <ac:chgData name="Obaida Kandakji" userId="651c32848610166f" providerId="LiveId" clId="{E7639676-A7AE-433F-8E45-1060BA34D97A}" dt="2026-04-22T03:07:46.284" v="41" actId="6549"/>
          <ac:spMkLst>
            <pc:docMk/>
            <pc:sldMk cId="0" sldId="256"/>
            <ac:spMk id="7" creationId="{00000000-0000-0000-0000-000000000000}"/>
          </ac:spMkLst>
        </pc:spChg>
        <pc:spChg chg="mod">
          <ac:chgData name="Obaida Kandakji" userId="651c32848610166f" providerId="LiveId" clId="{E7639676-A7AE-433F-8E45-1060BA34D97A}" dt="2026-04-22T02:51:32.633" v="39" actId="14100"/>
          <ac:spMkLst>
            <pc:docMk/>
            <pc:sldMk cId="0" sldId="256"/>
            <ac:spMk id="8" creationId="{00000000-0000-0000-0000-000000000000}"/>
          </ac:spMkLst>
        </pc:spChg>
        <pc:spChg chg="mod">
          <ac:chgData name="Obaida Kandakji" userId="651c32848610166f" providerId="LiveId" clId="{E7639676-A7AE-433F-8E45-1060BA34D97A}" dt="2026-04-22T02:51:12.079" v="35" actId="14100"/>
          <ac:spMkLst>
            <pc:docMk/>
            <pc:sldMk cId="0" sldId="256"/>
            <ac:spMk id="25" creationId="{00000000-0000-0000-0000-000000000000}"/>
          </ac:spMkLst>
        </pc:spChg>
        <pc:spChg chg="del mod">
          <ac:chgData name="Obaida Kandakji" userId="651c32848610166f" providerId="LiveId" clId="{E7639676-A7AE-433F-8E45-1060BA34D97A}" dt="2026-04-22T02:51:06.369" v="34"/>
          <ac:spMkLst>
            <pc:docMk/>
            <pc:sldMk cId="0" sldId="256"/>
            <ac:spMk id="34" creationId="{00000000-0000-0000-0000-000000000000}"/>
          </ac:spMkLst>
        </pc:spChg>
        <pc:cxnChg chg="del mod">
          <ac:chgData name="Obaida Kandakji" userId="651c32848610166f" providerId="LiveId" clId="{E7639676-A7AE-433F-8E45-1060BA34D97A}" dt="2026-04-22T02:51:22.995" v="37" actId="478"/>
          <ac:cxnSpMkLst>
            <pc:docMk/>
            <pc:sldMk cId="0" sldId="256"/>
            <ac:cxnSpMk id="21" creationId="{00000000-0000-0000-0000-000000000000}"/>
          </ac:cxnSpMkLst>
        </pc:cxnChg>
        <pc:cxnChg chg="del">
          <ac:chgData name="Obaida Kandakji" userId="651c32848610166f" providerId="LiveId" clId="{E7639676-A7AE-433F-8E45-1060BA34D97A}" dt="2026-04-22T02:51:24.121" v="38" actId="478"/>
          <ac:cxnSpMkLst>
            <pc:docMk/>
            <pc:sldMk cId="0" sldId="256"/>
            <ac:cxnSpMk id="22" creationId="{00000000-0000-0000-0000-000000000000}"/>
          </ac:cxnSpMkLst>
        </pc:cxnChg>
      </pc:sldChg>
      <pc:sldChg chg="delSp modSp mod">
        <pc:chgData name="Obaida Kandakji" userId="651c32848610166f" providerId="LiveId" clId="{E7639676-A7AE-433F-8E45-1060BA34D97A}" dt="2026-04-22T02:51:57.300" v="40" actId="1076"/>
        <pc:sldMkLst>
          <pc:docMk/>
          <pc:sldMk cId="0" sldId="257"/>
        </pc:sldMkLst>
        <pc:spChg chg="mod">
          <ac:chgData name="Obaida Kandakji" userId="651c32848610166f" providerId="LiveId" clId="{E7639676-A7AE-433F-8E45-1060BA34D97A}" dt="2026-04-22T02:49:14.736" v="0" actId="1076"/>
          <ac:spMkLst>
            <pc:docMk/>
            <pc:sldMk cId="0" sldId="257"/>
            <ac:spMk id="24" creationId="{00000000-0000-0000-0000-000000000000}"/>
          </ac:spMkLst>
        </pc:spChg>
        <pc:spChg chg="del mod">
          <ac:chgData name="Obaida Kandakji" userId="651c32848610166f" providerId="LiveId" clId="{E7639676-A7AE-433F-8E45-1060BA34D97A}" dt="2026-04-22T02:51:02.522" v="31"/>
          <ac:spMkLst>
            <pc:docMk/>
            <pc:sldMk cId="0" sldId="257"/>
            <ac:spMk id="35" creationId="{00000000-0000-0000-0000-000000000000}"/>
          </ac:spMkLst>
        </pc:spChg>
        <pc:cxnChg chg="mod">
          <ac:chgData name="Obaida Kandakji" userId="651c32848610166f" providerId="LiveId" clId="{E7639676-A7AE-433F-8E45-1060BA34D97A}" dt="2026-04-22T02:51:57.300" v="40" actId="1076"/>
          <ac:cxnSpMkLst>
            <pc:docMk/>
            <pc:sldMk cId="0" sldId="257"/>
            <ac:cxnSpMk id="23" creationId="{00000000-0000-0000-0000-000000000000}"/>
          </ac:cxnSpMkLst>
        </pc:cxnChg>
      </pc:sldChg>
      <pc:sldChg chg="delSp modSp mod">
        <pc:chgData name="Obaida Kandakji" userId="651c32848610166f" providerId="LiveId" clId="{E7639676-A7AE-433F-8E45-1060BA34D97A}" dt="2026-04-22T02:51:00.286" v="28"/>
        <pc:sldMkLst>
          <pc:docMk/>
          <pc:sldMk cId="0" sldId="258"/>
        </pc:sldMkLst>
        <pc:spChg chg="mod">
          <ac:chgData name="Obaida Kandakji" userId="651c32848610166f" providerId="LiveId" clId="{E7639676-A7AE-433F-8E45-1060BA34D97A}" dt="2026-04-22T02:50:49.539" v="25" actId="20577"/>
          <ac:spMkLst>
            <pc:docMk/>
            <pc:sldMk cId="0" sldId="258"/>
            <ac:spMk id="34" creationId="{00000000-0000-0000-0000-000000000000}"/>
          </ac:spMkLst>
        </pc:spChg>
        <pc:spChg chg="del mod">
          <ac:chgData name="Obaida Kandakji" userId="651c32848610166f" providerId="LiveId" clId="{E7639676-A7AE-433F-8E45-1060BA34D97A}" dt="2026-04-22T02:50:34.995" v="23" actId="478"/>
          <ac:spMkLst>
            <pc:docMk/>
            <pc:sldMk cId="0" sldId="258"/>
            <ac:spMk id="35" creationId="{00000000-0000-0000-0000-000000000000}"/>
          </ac:spMkLst>
        </pc:spChg>
        <pc:spChg chg="del mod">
          <ac:chgData name="Obaida Kandakji" userId="651c32848610166f" providerId="LiveId" clId="{E7639676-A7AE-433F-8E45-1060BA34D97A}" dt="2026-04-22T02:50:35.728" v="24" actId="478"/>
          <ac:spMkLst>
            <pc:docMk/>
            <pc:sldMk cId="0" sldId="258"/>
            <ac:spMk id="36" creationId="{00000000-0000-0000-0000-000000000000}"/>
          </ac:spMkLst>
        </pc:spChg>
        <pc:spChg chg="del mod">
          <ac:chgData name="Obaida Kandakji" userId="651c32848610166f" providerId="LiveId" clId="{E7639676-A7AE-433F-8E45-1060BA34D97A}" dt="2026-04-22T02:51:00.286" v="28"/>
          <ac:spMkLst>
            <pc:docMk/>
            <pc:sldMk cId="0" sldId="258"/>
            <ac:spMk id="38" creationId="{00000000-0000-0000-0000-000000000000}"/>
          </ac:spMkLst>
        </pc:spChg>
      </pc:sldChg>
      <pc:sldChg chg="delSp modSp mod">
        <pc:chgData name="Obaida Kandakji" userId="651c32848610166f" providerId="LiveId" clId="{E7639676-A7AE-433F-8E45-1060BA34D97A}" dt="2026-04-22T02:50:18.503" v="20"/>
        <pc:sldMkLst>
          <pc:docMk/>
          <pc:sldMk cId="0" sldId="259"/>
        </pc:sldMkLst>
        <pc:spChg chg="mod">
          <ac:chgData name="Obaida Kandakji" userId="651c32848610166f" providerId="LiveId" clId="{E7639676-A7AE-433F-8E45-1060BA34D97A}" dt="2026-04-22T02:50:02.135" v="16" actId="14100"/>
          <ac:spMkLst>
            <pc:docMk/>
            <pc:sldMk cId="0" sldId="259"/>
            <ac:spMk id="8" creationId="{00000000-0000-0000-0000-000000000000}"/>
          </ac:spMkLst>
        </pc:spChg>
        <pc:spChg chg="mod">
          <ac:chgData name="Obaida Kandakji" userId="651c32848610166f" providerId="LiveId" clId="{E7639676-A7AE-433F-8E45-1060BA34D97A}" dt="2026-04-22T02:50:07.995" v="18" actId="1076"/>
          <ac:spMkLst>
            <pc:docMk/>
            <pc:sldMk cId="0" sldId="259"/>
            <ac:spMk id="10" creationId="{00000000-0000-0000-0000-000000000000}"/>
          </ac:spMkLst>
        </pc:spChg>
        <pc:spChg chg="del mod">
          <ac:chgData name="Obaida Kandakji" userId="651c32848610166f" providerId="LiveId" clId="{E7639676-A7AE-433F-8E45-1060BA34D97A}" dt="2026-04-22T02:50:18.503" v="20"/>
          <ac:spMkLst>
            <pc:docMk/>
            <pc:sldMk cId="0" sldId="259"/>
            <ac:spMk id="13" creationId="{00000000-0000-0000-0000-000000000000}"/>
          </ac:spMkLst>
        </pc:spChg>
      </pc:sldChg>
      <pc:sldChg chg="delSp modSp mod">
        <pc:chgData name="Obaida Kandakji" userId="651c32848610166f" providerId="LiveId" clId="{E7639676-A7AE-433F-8E45-1060BA34D97A}" dt="2026-04-22T02:49:58.305" v="15"/>
        <pc:sldMkLst>
          <pc:docMk/>
          <pc:sldMk cId="0" sldId="260"/>
        </pc:sldMkLst>
        <pc:spChg chg="mod">
          <ac:chgData name="Obaida Kandakji" userId="651c32848610166f" providerId="LiveId" clId="{E7639676-A7AE-433F-8E45-1060BA34D97A}" dt="2026-04-22T02:49:25.734" v="1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Obaida Kandakji" userId="651c32848610166f" providerId="LiveId" clId="{E7639676-A7AE-433F-8E45-1060BA34D97A}" dt="2026-04-22T02:49:28.202" v="2" actId="14100"/>
          <ac:spMkLst>
            <pc:docMk/>
            <pc:sldMk cId="0" sldId="260"/>
            <ac:spMk id="7" creationId="{00000000-0000-0000-0000-000000000000}"/>
          </ac:spMkLst>
        </pc:spChg>
        <pc:spChg chg="del mod">
          <ac:chgData name="Obaida Kandakji" userId="651c32848610166f" providerId="LiveId" clId="{E7639676-A7AE-433F-8E45-1060BA34D97A}" dt="2026-04-22T02:49:58.305" v="13"/>
          <ac:spMkLst>
            <pc:docMk/>
            <pc:sldMk cId="0" sldId="260"/>
            <ac:spMk id="19" creationId="{00000000-0000-0000-0000-000000000000}"/>
          </ac:spMkLst>
        </pc:spChg>
        <pc:spChg chg="del mod">
          <ac:chgData name="Obaida Kandakji" userId="651c32848610166f" providerId="LiveId" clId="{E7639676-A7AE-433F-8E45-1060BA34D97A}" dt="2026-04-22T02:49:58.305" v="15"/>
          <ac:spMkLst>
            <pc:docMk/>
            <pc:sldMk cId="0" sldId="260"/>
            <ac:spMk id="21" creationId="{00000000-0000-0000-0000-000000000000}"/>
          </ac:spMkLst>
        </pc:spChg>
      </pc:sldChg>
      <pc:sldChg chg="delSp modSp mod">
        <pc:chgData name="Obaida Kandakji" userId="651c32848610166f" providerId="LiveId" clId="{E7639676-A7AE-433F-8E45-1060BA34D97A}" dt="2026-04-22T02:49:50.335" v="9"/>
        <pc:sldMkLst>
          <pc:docMk/>
          <pc:sldMk cId="0" sldId="261"/>
        </pc:sldMkLst>
        <pc:spChg chg="del">
          <ac:chgData name="Obaida Kandakji" userId="651c32848610166f" providerId="LiveId" clId="{E7639676-A7AE-433F-8E45-1060BA34D97A}" dt="2026-04-22T02:49:41.743" v="3" actId="478"/>
          <ac:spMkLst>
            <pc:docMk/>
            <pc:sldMk cId="0" sldId="261"/>
            <ac:spMk id="20" creationId="{00000000-0000-0000-0000-000000000000}"/>
          </ac:spMkLst>
        </pc:spChg>
        <pc:spChg chg="del mod">
          <ac:chgData name="Obaida Kandakji" userId="651c32848610166f" providerId="LiveId" clId="{E7639676-A7AE-433F-8E45-1060BA34D97A}" dt="2026-04-22T02:49:50.335" v="9"/>
          <ac:spMkLst>
            <pc:docMk/>
            <pc:sldMk cId="0" sldId="261"/>
            <ac:spMk id="2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1155680" cy="96012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621792"/>
            <a:ext cx="137160" cy="530352"/>
          </a:xfrm>
          <a:prstGeom prst="rect">
            <a:avLst/>
          </a:prstGeom>
          <a:solidFill>
            <a:srgbClr val="1E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566928"/>
            <a:ext cx="7863840" cy="310896"/>
          </a:xfrm>
          <a:prstGeom prst="rect">
            <a:avLst/>
          </a:prstGeom>
          <a:noFill/>
        </p:spPr>
        <p:txBody>
          <a:bodyPr wrap="square" lIns="128016" tIns="73152" rIns="128016" bIns="73152">
            <a:spAutoFit/>
          </a:bodyPr>
          <a:lstStyle/>
          <a:p>
            <a:pPr>
              <a:lnSpc>
                <a:spcPct val="110000"/>
              </a:lnSpc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Expense Approval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905256"/>
            <a:ext cx="8229600" cy="256032"/>
          </a:xfrm>
          <a:prstGeom prst="rect">
            <a:avLst/>
          </a:prstGeom>
          <a:noFill/>
        </p:spPr>
        <p:txBody>
          <a:bodyPr wrap="square" lIns="128016" tIns="73152" rIns="128016" bIns="73152">
            <a:spAutoFit/>
          </a:bodyPr>
          <a:lstStyle/>
          <a:p>
            <a:pPr>
              <a:lnSpc>
                <a:spcPct val="110000"/>
              </a:lnSpc>
              <a:defRPr sz="1200">
                <a:solidFill>
                  <a:srgbClr val="D7E2EA"/>
                </a:solidFill>
                <a:latin typeface="Aptos"/>
              </a:defRPr>
            </a:pPr>
            <a:r>
              <a:t>Dual implementation using Azure Durable Functions and Azure Logic Apps + Service Bus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594360"/>
            <a:ext cx="2697480" cy="310213"/>
          </a:xfrm>
          <a:prstGeom prst="rect">
            <a:avLst/>
          </a:prstGeom>
          <a:noFill/>
        </p:spPr>
        <p:txBody>
          <a:bodyPr wrap="square" lIns="128016" tIns="73152" rIns="128016" bIns="73152">
            <a:spAutoFit/>
          </a:bodyPr>
          <a:lstStyle/>
          <a:p>
            <a:pPr algn="r">
              <a:lnSpc>
                <a:spcPct val="110000"/>
              </a:lnSpc>
              <a:defRPr sz="1000">
                <a:solidFill>
                  <a:srgbClr val="FFFFFF"/>
                </a:solidFill>
                <a:latin typeface="Aptos"/>
              </a:defRPr>
            </a:pPr>
            <a:r>
              <a:rPr dirty="0"/>
              <a:t>CST8917 - Serverless Applications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2831897" cy="2834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8952" y="1673352"/>
            <a:ext cx="2011680" cy="329184"/>
          </a:xfrm>
          <a:prstGeom prst="roundRect">
            <a:avLst/>
          </a:prstGeom>
          <a:solidFill>
            <a:srgbClr val="1E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Project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002536"/>
            <a:ext cx="2542032" cy="1700784"/>
          </a:xfrm>
          <a:prstGeom prst="rect">
            <a:avLst/>
          </a:prstGeom>
          <a:noFill/>
        </p:spPr>
        <p:txBody>
          <a:bodyPr wrap="square" lIns="128016" tIns="73152" rIns="128016" bIns="73152">
            <a:spAutoFit/>
          </a:bodyPr>
          <a:lstStyle/>
          <a:p>
            <a:pPr>
              <a:lnSpc>
                <a:spcPct val="110000"/>
              </a:lnSpc>
              <a:defRPr sz="1500">
                <a:solidFill>
                  <a:srgbClr val="14243D"/>
                </a:solidFill>
                <a:latin typeface="Aptos"/>
              </a:defRPr>
            </a:pPr>
            <a:r>
              <a:t>• Build the same expense approval pipeline twice to compare code-first and visual orchestration.</a:t>
            </a:r>
          </a:p>
          <a:p>
            <a:pPr>
              <a:lnSpc>
                <a:spcPct val="110000"/>
              </a:lnSpc>
              <a:defRPr sz="1500">
                <a:solidFill>
                  <a:srgbClr val="14243D"/>
                </a:solidFill>
                <a:latin typeface="Aptos"/>
              </a:defRPr>
            </a:pPr>
            <a:r>
              <a:t>• Version A uses Azure Durable Functions with a human interaction pattern.</a:t>
            </a:r>
          </a:p>
          <a:p>
            <a:pPr>
              <a:lnSpc>
                <a:spcPct val="110000"/>
              </a:lnSpc>
              <a:defRPr sz="1500">
                <a:solidFill>
                  <a:srgbClr val="14243D"/>
                </a:solidFill>
                <a:latin typeface="Aptos"/>
              </a:defRPr>
            </a:pPr>
            <a:r>
              <a:t>• Version B uses Logic Apps, Service Bus, Table Storage, and Office 365.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847088"/>
            <a:ext cx="1417320" cy="658368"/>
          </a:xfrm>
          <a:prstGeom prst="roundRect">
            <a:avLst/>
          </a:prstGeom>
          <a:solidFill>
            <a:srgbClr val="E8EEF8"/>
          </a:solidFill>
          <a:ln w="1397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43D"/>
                </a:solidFill>
                <a:latin typeface="Aptos"/>
              </a:defRPr>
            </a:pPr>
            <a:r>
              <a:t>Submit</a:t>
            </a:r>
            <a:br/>
            <a:r>
              <a:t>expense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58968" y="1847088"/>
            <a:ext cx="141732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43D"/>
                </a:solidFill>
                <a:latin typeface="Aptos"/>
              </a:defRPr>
            </a:pPr>
            <a:r>
              <a:t>Validate</a:t>
            </a:r>
            <a:br/>
            <a:r>
              <a:t>request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31736" y="1847088"/>
            <a:ext cx="1417320" cy="658368"/>
          </a:xfrm>
          <a:prstGeom prst="roundRect">
            <a:avLst/>
          </a:prstGeom>
          <a:solidFill>
            <a:srgbClr val="FCE9D6"/>
          </a:solidFill>
          <a:ln w="1397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43D"/>
                </a:solidFill>
                <a:latin typeface="Aptos"/>
              </a:defRPr>
            </a:pPr>
            <a:r>
              <a:t>&lt; $100?</a:t>
            </a:r>
            <a:br/>
            <a:r>
              <a:t>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04504" y="1847088"/>
            <a:ext cx="141732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43D"/>
                </a:solidFill>
                <a:latin typeface="Aptos"/>
              </a:defRPr>
            </a:pPr>
            <a:r>
              <a:t>Manager</a:t>
            </a:r>
            <a:br/>
            <a:r>
              <a:t>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77272" y="1847088"/>
            <a:ext cx="1417320" cy="658368"/>
          </a:xfrm>
          <a:prstGeom prst="roundRect">
            <a:avLst/>
          </a:prstGeom>
          <a:solidFill>
            <a:srgbClr val="E0F4F0"/>
          </a:solidFill>
          <a:ln w="1397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43D"/>
                </a:solidFill>
                <a:latin typeface="Aptos"/>
              </a:defRPr>
            </a:pPr>
            <a:r>
              <a:t>Notify</a:t>
            </a:r>
            <a:br/>
            <a:r>
              <a:t>employee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03520" y="2176272"/>
            <a:ext cx="155448" cy="0"/>
          </a:xfrm>
          <a:prstGeom prst="line">
            <a:avLst/>
          </a:prstGeom>
          <a:ln w="21590">
            <a:solidFill>
              <a:srgbClr val="163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76288" y="2176272"/>
            <a:ext cx="155448" cy="0"/>
          </a:xfrm>
          <a:prstGeom prst="line">
            <a:avLst/>
          </a:prstGeom>
          <a:ln w="21590">
            <a:solidFill>
              <a:srgbClr val="163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49056" y="2176272"/>
            <a:ext cx="155448" cy="0"/>
          </a:xfrm>
          <a:prstGeom prst="line">
            <a:avLst/>
          </a:prstGeom>
          <a:ln w="21590">
            <a:solidFill>
              <a:srgbClr val="163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021824" y="2176272"/>
            <a:ext cx="155448" cy="0"/>
          </a:xfrm>
          <a:prstGeom prst="line">
            <a:avLst/>
          </a:prstGeom>
          <a:ln w="21590">
            <a:solidFill>
              <a:srgbClr val="163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15200" y="2615184"/>
            <a:ext cx="1024128" cy="274320"/>
          </a:xfrm>
          <a:prstGeom prst="roundRect">
            <a:avLst/>
          </a:prstGeom>
          <a:solidFill>
            <a:srgbClr val="2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Auto-approve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60" y="2615184"/>
            <a:ext cx="1051560" cy="274320"/>
          </a:xfrm>
          <a:prstGeom prst="roundRect">
            <a:avLst/>
          </a:prstGeom>
          <a:solidFill>
            <a:srgbClr val="F2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If no reply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20072" y="2615184"/>
            <a:ext cx="1078992" cy="274320"/>
          </a:xfrm>
          <a:prstGeom prst="round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Escalated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3154679"/>
            <a:ext cx="7333488" cy="11978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23360" y="3319272"/>
            <a:ext cx="6949440" cy="658368"/>
          </a:xfrm>
          <a:prstGeom prst="rect">
            <a:avLst/>
          </a:prstGeom>
          <a:noFill/>
        </p:spPr>
        <p:txBody>
          <a:bodyPr wrap="square" lIns="128016" tIns="73152" rIns="128016" bIns="73152">
            <a:spAutoFit/>
          </a:bodyPr>
          <a:lstStyle/>
          <a:p>
            <a:pPr>
              <a:lnSpc>
                <a:spcPct val="110000"/>
              </a:lnSpc>
              <a:defRPr sz="1300">
                <a:solidFill>
                  <a:srgbClr val="14243D"/>
                </a:solidFill>
                <a:latin typeface="Aptos"/>
              </a:defRPr>
            </a:pPr>
            <a:r>
              <a:t>• Required fields: employee name, employee email, amount, category, description, manager email.</a:t>
            </a:r>
          </a:p>
          <a:p>
            <a:pPr>
              <a:lnSpc>
                <a:spcPct val="110000"/>
              </a:lnSpc>
              <a:defRPr sz="1300">
                <a:solidFill>
                  <a:srgbClr val="14243D"/>
                </a:solidFill>
                <a:latin typeface="Aptos"/>
              </a:defRPr>
            </a:pPr>
            <a:r>
              <a:t>• Valid categories: travel, meals, supplies, equipment, software, other.</a:t>
            </a:r>
          </a:p>
          <a:p>
            <a:pPr>
              <a:lnSpc>
                <a:spcPct val="110000"/>
              </a:lnSpc>
              <a:defRPr sz="1300">
                <a:solidFill>
                  <a:srgbClr val="14243D"/>
                </a:solidFill>
                <a:latin typeface="Aptos"/>
              </a:defRPr>
            </a:pPr>
            <a:r>
              <a:t>• Final outcomes: approved, rejected, escalated, validation error.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4617720"/>
            <a:ext cx="1965960" cy="310896"/>
          </a:xfrm>
          <a:prstGeom prst="roundRect">
            <a:avLst/>
          </a:prstGeom>
          <a:solidFill>
            <a:srgbClr val="2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Outcome: approved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79192" y="4617720"/>
            <a:ext cx="1965960" cy="310896"/>
          </a:xfrm>
          <a:prstGeom prst="round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Outcome: rejected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36592" y="4617720"/>
            <a:ext cx="1965960" cy="310896"/>
          </a:xfrm>
          <a:prstGeom prst="roundRect">
            <a:avLst/>
          </a:prstGeom>
          <a:solidFill>
            <a:srgbClr val="F2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Outcome: escalated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93992" y="4617720"/>
            <a:ext cx="1965960" cy="310896"/>
          </a:xfrm>
          <a:prstGeom prst="roundRect">
            <a:avLst/>
          </a:prstGeom>
          <a:solidFill>
            <a:srgbClr val="16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Outcome: validation error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" y="5138928"/>
            <a:ext cx="10927080" cy="786384"/>
          </a:xfrm>
          <a:prstGeom prst="round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321808"/>
            <a:ext cx="10424160" cy="384048"/>
          </a:xfrm>
          <a:prstGeom prst="rect">
            <a:avLst/>
          </a:prstGeom>
          <a:noFill/>
        </p:spPr>
        <p:txBody>
          <a:bodyPr wrap="square" lIns="128016" tIns="73152" rIns="128016" bIns="73152">
            <a:spAutoFit/>
          </a:bodyPr>
          <a:lstStyle/>
          <a:p>
            <a:pPr>
              <a:lnSpc>
                <a:spcPct val="110000"/>
              </a:lnSpc>
              <a:defRPr sz="1600" b="1">
                <a:solidFill>
                  <a:srgbClr val="14243D"/>
                </a:solidFill>
                <a:latin typeface="Aptos"/>
              </a:defRPr>
            </a:pPr>
            <a:r>
              <a:t>Why compare both? The business rules stay the same, but the orchestration style, testing experience, observability, and cost profile change a lot.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6528816"/>
            <a:ext cx="11338560" cy="9144"/>
          </a:xfrm>
          <a:prstGeom prst="rect">
            <a:avLst/>
          </a:prstGeom>
          <a:solidFill>
            <a:srgbClr val="D7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164592"/>
            <a:ext cx="109728" cy="329184"/>
          </a:xfrm>
          <a:prstGeom prst="rect">
            <a:avLst/>
          </a:prstGeom>
          <a:solidFill>
            <a:srgbClr val="1E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8872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Version A - Durable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146304"/>
            <a:ext cx="3566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7E2EA"/>
                </a:solidFill>
                <a:latin typeface="Aptos"/>
              </a:defRPr>
            </a:pPr>
            <a:r>
              <a:t>Code-first orchestration with a natural approval wait pattern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960120"/>
            <a:ext cx="66294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9808" y="1097280"/>
            <a:ext cx="1828800" cy="301752"/>
          </a:xfrm>
          <a:prstGeom prst="roundRect">
            <a:avLst/>
          </a:prstGeom>
          <a:solidFill>
            <a:srgbClr val="16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00200"/>
            <a:ext cx="1143000" cy="640080"/>
          </a:xfrm>
          <a:prstGeom prst="roundRect">
            <a:avLst/>
          </a:prstGeom>
          <a:solidFill>
            <a:srgbClr val="E8EEF8"/>
          </a:solidFill>
          <a:ln w="1397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43D"/>
                </a:solidFill>
                <a:latin typeface="Aptos"/>
              </a:defRPr>
            </a:pPr>
            <a:r>
              <a:t>Client / test-durable.http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1417320"/>
            <a:ext cx="1417320" cy="658368"/>
          </a:xfrm>
          <a:prstGeom prst="roundRect">
            <a:avLst/>
          </a:prstGeom>
          <a:solidFill>
            <a:srgbClr val="E0F4F0"/>
          </a:solidFill>
          <a:ln w="1397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43D"/>
                </a:solidFill>
                <a:latin typeface="Aptos"/>
              </a:defRPr>
            </a:pPr>
            <a:r>
              <a:t>POST /api/expenses/start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325880"/>
            <a:ext cx="1920240" cy="841248"/>
          </a:xfrm>
          <a:prstGeom prst="roundRect">
            <a:avLst/>
          </a:prstGeom>
          <a:solidFill>
            <a:srgbClr val="FCE9D6"/>
          </a:solidFill>
          <a:ln w="1397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43D"/>
                </a:solidFill>
                <a:latin typeface="Aptos"/>
              </a:defRPr>
            </a:pPr>
            <a:r>
              <a:t>expense_approval_orchestrator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3154680"/>
            <a:ext cx="141732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43D"/>
                </a:solidFill>
                <a:latin typeface="Aptos"/>
              </a:defRPr>
            </a:pPr>
            <a:r>
              <a:t>GET /api/expenses/status/{instanceId}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2834640"/>
            <a:ext cx="1051560" cy="777240"/>
          </a:xfrm>
          <a:prstGeom prst="roundRect">
            <a:avLst/>
          </a:prstGeom>
          <a:solidFill>
            <a:srgbClr val="E0F4F0"/>
          </a:solidFill>
          <a:ln w="1397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43D"/>
                </a:solidFill>
                <a:latin typeface="Aptos"/>
              </a:defRPr>
            </a:pPr>
            <a:r>
              <a:t>POST /api/expenses/decision/{instanceId}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343400"/>
            <a:ext cx="1234440" cy="566928"/>
          </a:xfrm>
          <a:prstGeom prst="roundRect">
            <a:avLst/>
          </a:prstGeom>
          <a:solidFill>
            <a:srgbClr val="E8EEF8"/>
          </a:solidFill>
          <a:ln w="1397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43D"/>
                </a:solidFill>
                <a:latin typeface="Aptos"/>
              </a:defRPr>
            </a:pPr>
            <a:r>
              <a:t>validate_expense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4343400"/>
            <a:ext cx="1417320" cy="566928"/>
          </a:xfrm>
          <a:prstGeom prst="roundRect">
            <a:avLst/>
          </a:prstGeom>
          <a:solidFill>
            <a:srgbClr val="E8EEF8"/>
          </a:solidFill>
          <a:ln w="1397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43D"/>
                </a:solidFill>
                <a:latin typeface="Aptos"/>
              </a:defRPr>
            </a:pPr>
            <a:r>
              <a:t>request_manager_review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4343400"/>
            <a:ext cx="1143000" cy="566928"/>
          </a:xfrm>
          <a:prstGeom prst="roundRect">
            <a:avLst/>
          </a:prstGeom>
          <a:solidFill>
            <a:srgbClr val="E8EEF8"/>
          </a:solidFill>
          <a:ln w="1397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43D"/>
                </a:solidFill>
                <a:latin typeface="Aptos"/>
              </a:defRPr>
            </a:pPr>
            <a:r>
              <a:t>finalize_expense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4343400"/>
            <a:ext cx="960120" cy="566928"/>
          </a:xfrm>
          <a:prstGeom prst="roundRect">
            <a:avLst/>
          </a:prstGeom>
          <a:solidFill>
            <a:srgbClr val="E8EEF8"/>
          </a:solidFill>
          <a:ln w="1397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43D"/>
                </a:solidFill>
                <a:latin typeface="Aptos"/>
              </a:defRPr>
            </a:pPr>
            <a:r>
              <a:t>notify_employee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011680" y="1746504"/>
            <a:ext cx="320040" cy="173736"/>
          </a:xfrm>
          <a:prstGeom prst="line">
            <a:avLst/>
          </a:prstGeom>
          <a:ln w="21590">
            <a:solidFill>
              <a:srgbClr val="163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49039" y="1746504"/>
            <a:ext cx="320041" cy="0"/>
          </a:xfrm>
          <a:prstGeom prst="line">
            <a:avLst/>
          </a:prstGeom>
          <a:ln w="21590">
            <a:solidFill>
              <a:srgbClr val="163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5029200" y="2167128"/>
            <a:ext cx="960120" cy="1069848"/>
          </a:xfrm>
          <a:prstGeom prst="line">
            <a:avLst/>
          </a:prstGeom>
          <a:ln w="21590">
            <a:solidFill>
              <a:srgbClr val="1E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657600" y="2167128"/>
            <a:ext cx="868680" cy="1325880"/>
          </a:xfrm>
          <a:prstGeom prst="line">
            <a:avLst/>
          </a:prstGeom>
          <a:ln w="21590">
            <a:solidFill>
              <a:srgbClr val="163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83480" y="2167128"/>
            <a:ext cx="0" cy="2176272"/>
          </a:xfrm>
          <a:prstGeom prst="line">
            <a:avLst/>
          </a:prstGeom>
          <a:ln w="21590">
            <a:solidFill>
              <a:srgbClr val="163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00200" y="4358201"/>
            <a:ext cx="4389120" cy="0"/>
          </a:xfrm>
          <a:prstGeom prst="line">
            <a:avLst/>
          </a:prstGeom>
          <a:ln w="21590">
            <a:solidFill>
              <a:srgbClr val="163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207008" y="2743200"/>
            <a:ext cx="4389120" cy="475488"/>
          </a:xfrm>
          <a:prstGeom prst="roundRect">
            <a:avLst/>
          </a:prstGeom>
          <a:solidFill>
            <a:srgbClr val="DF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89888" y="2633472"/>
            <a:ext cx="4069080" cy="164592"/>
          </a:xfrm>
          <a:prstGeom prst="rect">
            <a:avLst/>
          </a:prstGeom>
          <a:noFill/>
        </p:spPr>
        <p:txBody>
          <a:bodyPr wrap="square" lIns="128016" tIns="73152" rIns="128016" bIns="73152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2D8C73"/>
                </a:solidFill>
                <a:latin typeface="Aptos"/>
              </a:defRPr>
            </a:pPr>
            <a:r>
              <a:t>Human interaction pattern: wait_for_external_event('ManagerDecision') + durable timer (60s default).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1234440"/>
            <a:ext cx="4069080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525512" y="1124712"/>
            <a:ext cx="2011680" cy="329184"/>
          </a:xfrm>
          <a:prstGeom prst="roundRect">
            <a:avLst/>
          </a:prstGeom>
          <a:solidFill>
            <a:srgbClr val="1E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Key Decisions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7224" y="1453896"/>
            <a:ext cx="3776472" cy="1655064"/>
          </a:xfrm>
          <a:prstGeom prst="rect">
            <a:avLst/>
          </a:prstGeom>
          <a:noFill/>
        </p:spPr>
        <p:txBody>
          <a:bodyPr wrap="square" lIns="128016" tIns="73152" rIns="128016" bIns="73152">
            <a:spAutoFit/>
          </a:bodyPr>
          <a:lstStyle/>
          <a:p>
            <a:pPr>
              <a:lnSpc>
                <a:spcPct val="110000"/>
              </a:lnSpc>
              <a:defRPr sz="1500">
                <a:solidFill>
                  <a:srgbClr val="14243D"/>
                </a:solidFill>
                <a:latin typeface="Aptos"/>
              </a:defRPr>
            </a:pPr>
            <a:r>
              <a:t>• Business logic is centralized in version-a-durable-functions/function_app.py.</a:t>
            </a:r>
          </a:p>
          <a:p>
            <a:pPr>
              <a:lnSpc>
                <a:spcPct val="110000"/>
              </a:lnSpc>
              <a:defRPr sz="1500">
                <a:solidFill>
                  <a:srgbClr val="14243D"/>
                </a:solidFill>
                <a:latin typeface="Aptos"/>
              </a:defRPr>
            </a:pPr>
            <a:r>
              <a:t>• Validation, review request, finalization, and notification are modeled as activities.</a:t>
            </a:r>
          </a:p>
          <a:p>
            <a:pPr>
              <a:lnSpc>
                <a:spcPct val="110000"/>
              </a:lnSpc>
              <a:defRPr sz="1500">
                <a:solidFill>
                  <a:srgbClr val="14243D"/>
                </a:solidFill>
                <a:latin typeface="Aptos"/>
              </a:defRPr>
            </a:pPr>
            <a:r>
              <a:t>• Notifications are simulated with logging, which kept local development simple.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3611880"/>
            <a:ext cx="4069080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525512" y="3502152"/>
            <a:ext cx="2011680" cy="329184"/>
          </a:xfrm>
          <a:prstGeom prst="roundRect">
            <a:avLst/>
          </a:prstGeom>
          <a:solidFill>
            <a:srgbClr val="F2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Demo Evidence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07224" y="3831336"/>
            <a:ext cx="3776472" cy="1655064"/>
          </a:xfrm>
          <a:prstGeom prst="rect">
            <a:avLst/>
          </a:prstGeom>
          <a:noFill/>
        </p:spPr>
        <p:txBody>
          <a:bodyPr wrap="square" lIns="128016" tIns="73152" rIns="128016" bIns="73152">
            <a:spAutoFit/>
          </a:bodyPr>
          <a:lstStyle/>
          <a:p>
            <a:pPr>
              <a:lnSpc>
                <a:spcPct val="110000"/>
              </a:lnSpc>
              <a:defRPr sz="1500">
                <a:solidFill>
                  <a:srgbClr val="14243D"/>
                </a:solidFill>
                <a:latin typeface="Aptos"/>
              </a:defRPr>
            </a:pPr>
            <a:r>
              <a:t>• test-durable.http covers auto-approve, approve, reject, timeout, and validation failure scenarios.</a:t>
            </a:r>
          </a:p>
          <a:p>
            <a:pPr>
              <a:lnSpc>
                <a:spcPct val="110000"/>
              </a:lnSpc>
              <a:defRPr sz="1500">
                <a:solidFill>
                  <a:srgbClr val="14243D"/>
                </a:solidFill>
                <a:latin typeface="Aptos"/>
              </a:defRPr>
            </a:pPr>
            <a:r>
              <a:t>• Starter responses return both a status URL and a manager decision URL.</a:t>
            </a:r>
          </a:p>
          <a:p>
            <a:pPr>
              <a:lnSpc>
                <a:spcPct val="110000"/>
              </a:lnSpc>
              <a:defRPr sz="1500">
                <a:solidFill>
                  <a:srgbClr val="14243D"/>
                </a:solidFill>
                <a:latin typeface="Aptos"/>
              </a:defRPr>
            </a:pPr>
            <a:r>
              <a:t>• This version was easiest to run end-to-end on localhost and confirm through orchestration status.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5669280"/>
            <a:ext cx="1737360" cy="310896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POST /api/expenses/start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64040" y="5669280"/>
            <a:ext cx="1874519" cy="310896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POST /api/expenses/decision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6528816"/>
            <a:ext cx="11338560" cy="9144"/>
          </a:xfrm>
          <a:prstGeom prst="rect">
            <a:avLst/>
          </a:prstGeom>
          <a:solidFill>
            <a:srgbClr val="D7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164592"/>
            <a:ext cx="109728" cy="329184"/>
          </a:xfrm>
          <a:prstGeom prst="rect">
            <a:avLst/>
          </a:prstGeom>
          <a:solidFill>
            <a:srgbClr val="1E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8872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Version B - Logic Apps + Service Bus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146304"/>
            <a:ext cx="3566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7E2EA"/>
                </a:solidFill>
                <a:latin typeface="Aptos"/>
              </a:defRPr>
            </a:pPr>
            <a:r>
              <a:t>Visual orchestration with more Azure resources and a polling workaround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32688"/>
            <a:ext cx="7040880" cy="5193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3232" y="1078992"/>
            <a:ext cx="1874519" cy="301752"/>
          </a:xfrm>
          <a:prstGeom prst="roundRect">
            <a:avLst/>
          </a:prstGeom>
          <a:solidFill>
            <a:srgbClr val="16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64208"/>
            <a:ext cx="1188720" cy="658368"/>
          </a:xfrm>
          <a:prstGeom prst="roundRect">
            <a:avLst/>
          </a:prstGeom>
          <a:solidFill>
            <a:srgbClr val="E8EEF8"/>
          </a:solidFill>
          <a:ln w="1397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43D"/>
                </a:solidFill>
                <a:latin typeface="Aptos"/>
              </a:defRPr>
            </a:pPr>
            <a:r>
              <a:t>Client / test-expense.http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9424" y="1517904"/>
            <a:ext cx="1325880" cy="768096"/>
          </a:xfrm>
          <a:prstGeom prst="roundRect">
            <a:avLst/>
          </a:prstGeom>
          <a:solidFill>
            <a:srgbClr val="E0F4F0"/>
          </a:solidFill>
          <a:ln w="1397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43D"/>
                </a:solidFill>
                <a:latin typeface="Aptos"/>
              </a:defRPr>
            </a:pPr>
            <a:r>
              <a:t>Helper Function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67912" y="1517904"/>
            <a:ext cx="1234440" cy="768096"/>
          </a:xfrm>
          <a:prstGeom prst="roundRect">
            <a:avLst/>
          </a:prstGeom>
          <a:solidFill>
            <a:srgbClr val="FCE9D6"/>
          </a:solidFill>
          <a:ln w="1397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43D"/>
                </a:solidFill>
                <a:latin typeface="Aptos"/>
              </a:defRPr>
            </a:pPr>
            <a:r>
              <a:t>Service Bus queue</a:t>
            </a:r>
            <a:br/>
            <a:r>
              <a:t>expense-requests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13248" y="1481328"/>
            <a:ext cx="155448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43D"/>
                </a:solidFill>
                <a:latin typeface="Aptos"/>
              </a:defRPr>
            </a:pPr>
            <a:r>
              <a:t>Logic App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2743200"/>
            <a:ext cx="1188720" cy="640080"/>
          </a:xfrm>
          <a:prstGeom prst="roundRect">
            <a:avLst/>
          </a:prstGeom>
          <a:solidFill>
            <a:srgbClr val="E8EEF8"/>
          </a:solidFill>
          <a:ln w="1397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43D"/>
                </a:solidFill>
                <a:latin typeface="Aptos"/>
              </a:defRPr>
            </a:pPr>
            <a:r>
              <a:t>POST /api/validate-expense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2743200"/>
            <a:ext cx="1325880" cy="640080"/>
          </a:xfrm>
          <a:prstGeom prst="roundRect">
            <a:avLst/>
          </a:prstGeom>
          <a:solidFill>
            <a:srgbClr val="E8EEF8"/>
          </a:solidFill>
          <a:ln w="1397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43D"/>
                </a:solidFill>
                <a:latin typeface="Aptos"/>
              </a:defRPr>
            </a:pPr>
            <a:r>
              <a:t>GET/POST /api/manager-decisions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2743200"/>
            <a:ext cx="1143000" cy="640080"/>
          </a:xfrm>
          <a:prstGeom prst="roundRect">
            <a:avLst/>
          </a:prstGeom>
          <a:solidFill>
            <a:srgbClr val="E0F4F0"/>
          </a:solidFill>
          <a:ln w="1397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43D"/>
                </a:solidFill>
                <a:latin typeface="Aptos"/>
              </a:defRPr>
            </a:pPr>
            <a:r>
              <a:t>Table Storage</a:t>
            </a:r>
            <a:br/>
            <a:r>
              <a:t>ManagerDecisions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01952" y="4096512"/>
            <a:ext cx="1325880" cy="713232"/>
          </a:xfrm>
          <a:prstGeom prst="roundRect">
            <a:avLst/>
          </a:prstGeom>
          <a:solidFill>
            <a:srgbClr val="FCE9D6"/>
          </a:solidFill>
          <a:ln w="1397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43D"/>
                </a:solidFill>
                <a:latin typeface="Aptos"/>
              </a:defRPr>
            </a:pPr>
            <a:r>
              <a:t>Service Bus topic</a:t>
            </a:r>
            <a:br/>
            <a:r>
              <a:t>expense-outcomes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93008" y="4069080"/>
            <a:ext cx="1600200" cy="7680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43D"/>
                </a:solidFill>
                <a:latin typeface="Aptos"/>
              </a:defRPr>
            </a:pPr>
            <a:r>
              <a:t>Filtered subscriptions</a:t>
            </a:r>
            <a:br/>
            <a:r>
              <a:t>approved | rejected | escalated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4096512"/>
            <a:ext cx="1097280" cy="713232"/>
          </a:xfrm>
          <a:prstGeom prst="roundRect">
            <a:avLst/>
          </a:prstGeom>
          <a:solidFill>
            <a:srgbClr val="E0F4F0"/>
          </a:solidFill>
          <a:ln w="1397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43D"/>
                </a:solidFill>
                <a:latin typeface="Aptos"/>
              </a:defRPr>
            </a:pPr>
            <a:r>
              <a:t>Office 365</a:t>
            </a:r>
            <a:br/>
            <a:r>
              <a:t>email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1975104" y="1901952"/>
            <a:ext cx="274320" cy="91440"/>
          </a:xfrm>
          <a:prstGeom prst="line">
            <a:avLst/>
          </a:prstGeom>
          <a:ln w="21590">
            <a:solidFill>
              <a:srgbClr val="163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575304" y="1901952"/>
            <a:ext cx="292608" cy="0"/>
          </a:xfrm>
          <a:prstGeom prst="line">
            <a:avLst/>
          </a:prstGeom>
          <a:ln w="21590">
            <a:solidFill>
              <a:srgbClr val="163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02352" y="1901952"/>
            <a:ext cx="310896" cy="0"/>
          </a:xfrm>
          <a:prstGeom prst="line">
            <a:avLst/>
          </a:prstGeom>
          <a:ln w="21590">
            <a:solidFill>
              <a:srgbClr val="163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72200" y="2304288"/>
            <a:ext cx="0" cy="1792224"/>
          </a:xfrm>
          <a:prstGeom prst="line">
            <a:avLst/>
          </a:prstGeom>
          <a:ln w="21590">
            <a:solidFill>
              <a:srgbClr val="163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572000" y="2304288"/>
            <a:ext cx="914400" cy="438912"/>
          </a:xfrm>
          <a:prstGeom prst="line">
            <a:avLst/>
          </a:prstGeom>
          <a:ln w="21590">
            <a:solidFill>
              <a:srgbClr val="163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606040" y="2286000"/>
            <a:ext cx="182880" cy="457200"/>
          </a:xfrm>
          <a:prstGeom prst="line">
            <a:avLst/>
          </a:prstGeom>
          <a:ln w="21590">
            <a:solidFill>
              <a:srgbClr val="163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846320" y="3063240"/>
            <a:ext cx="274320" cy="0"/>
          </a:xfrm>
          <a:prstGeom prst="line">
            <a:avLst/>
          </a:prstGeom>
          <a:ln w="21590">
            <a:solidFill>
              <a:srgbClr val="1E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227832" y="4453128"/>
            <a:ext cx="2944368" cy="0"/>
          </a:xfrm>
          <a:prstGeom prst="line">
            <a:avLst/>
          </a:prstGeom>
          <a:ln w="21590">
            <a:solidFill>
              <a:srgbClr val="163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" y="5120640"/>
            <a:ext cx="6172200" cy="475488"/>
          </a:xfrm>
          <a:prstGeom prst="roundRect">
            <a:avLst/>
          </a:prstGeom>
          <a:solidFill>
            <a:srgbClr val="FC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5248656"/>
            <a:ext cx="5806440" cy="164592"/>
          </a:xfrm>
          <a:prstGeom prst="rect">
            <a:avLst/>
          </a:prstGeom>
          <a:noFill/>
        </p:spPr>
        <p:txBody>
          <a:bodyPr wrap="square" lIns="128016" tIns="73152" rIns="128016" bIns="73152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14243D"/>
                </a:solidFill>
                <a:latin typeface="Aptos"/>
              </a:defRPr>
            </a:pPr>
            <a:r>
              <a:t>Manager approval workaround: Logic App polls Table Storage every 15s for up to 2 minutes.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6679" y="1234440"/>
            <a:ext cx="3794760" cy="2148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891271" y="1124712"/>
            <a:ext cx="2011680" cy="329184"/>
          </a:xfrm>
          <a:prstGeom prst="roundRect">
            <a:avLst/>
          </a:prstGeom>
          <a:solidFill>
            <a:srgbClr val="1E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Key Decisions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72983" y="1453896"/>
            <a:ext cx="3502152" cy="1837944"/>
          </a:xfrm>
          <a:prstGeom prst="rect">
            <a:avLst/>
          </a:prstGeom>
          <a:noFill/>
        </p:spPr>
        <p:txBody>
          <a:bodyPr wrap="square" lIns="128016" tIns="73152" rIns="128016" bIns="73152">
            <a:spAutoFit/>
          </a:bodyPr>
          <a:lstStyle/>
          <a:p>
            <a:pPr>
              <a:lnSpc>
                <a:spcPct val="110000"/>
              </a:lnSpc>
              <a:defRPr sz="1500">
                <a:solidFill>
                  <a:srgbClr val="14243D"/>
                </a:solidFill>
                <a:latin typeface="Aptos"/>
              </a:defRPr>
            </a:pPr>
            <a:r>
              <a:t>• Incoming requests are validated in the helper Function app before being queued.</a:t>
            </a:r>
          </a:p>
          <a:p>
            <a:pPr>
              <a:lnSpc>
                <a:spcPct val="110000"/>
              </a:lnSpc>
              <a:defRPr sz="1500">
                <a:solidFill>
                  <a:srgbClr val="14243D"/>
                </a:solidFill>
                <a:latin typeface="Aptos"/>
              </a:defRPr>
            </a:pPr>
            <a:r>
              <a:t>• Manager decisions are written to Table Storage and later read by the Logic App.</a:t>
            </a:r>
          </a:p>
          <a:p>
            <a:pPr>
              <a:lnSpc>
                <a:spcPct val="110000"/>
              </a:lnSpc>
              <a:defRPr sz="1500">
                <a:solidFill>
                  <a:srgbClr val="14243D"/>
                </a:solidFill>
                <a:latin typeface="Aptos"/>
              </a:defRPr>
            </a:pPr>
            <a:r>
              <a:t>• Outcome messages are published with an outcome property for filtered subscriptions.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6679" y="3675887"/>
            <a:ext cx="3794760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891271" y="3566159"/>
            <a:ext cx="2011680" cy="329184"/>
          </a:xfrm>
          <a:prstGeom prst="roundRect">
            <a:avLst/>
          </a:prstGeom>
          <a:solidFill>
            <a:srgbClr val="F2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Demo 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72983" y="3895343"/>
            <a:ext cx="3502152" cy="1661032"/>
          </a:xfrm>
          <a:prstGeom prst="rect">
            <a:avLst/>
          </a:prstGeom>
          <a:noFill/>
        </p:spPr>
        <p:txBody>
          <a:bodyPr wrap="square" lIns="128016" tIns="73152" rIns="128016" bIns="73152">
            <a:spAutoFit/>
          </a:bodyPr>
          <a:lstStyle/>
          <a:p>
            <a:pPr>
              <a:lnSpc>
                <a:spcPct val="110000"/>
              </a:lnSpc>
              <a:defRPr sz="1500">
                <a:solidFill>
                  <a:srgbClr val="14243D"/>
                </a:solidFill>
                <a:latin typeface="Aptos"/>
              </a:defRPr>
            </a:pPr>
            <a:r>
              <a:rPr dirty="0"/>
              <a:t>• test-</a:t>
            </a:r>
            <a:r>
              <a:rPr dirty="0" err="1"/>
              <a:t>expense.http</a:t>
            </a:r>
            <a:r>
              <a:rPr dirty="0"/>
              <a:t> exercises queue ingress, validation, manager decision POSTs, and decision lookups.</a:t>
            </a:r>
          </a:p>
          <a:p>
            <a:pPr>
              <a:lnSpc>
                <a:spcPct val="110000"/>
              </a:lnSpc>
              <a:defRPr sz="1500">
                <a:solidFill>
                  <a:srgbClr val="14243D"/>
                </a:solidFill>
                <a:latin typeface="Aptos"/>
              </a:defRPr>
            </a:pPr>
            <a:r>
              <a:rPr dirty="0"/>
              <a:t>• The Logic App run history shows which branch ran, while email and topic counts verify the final outcome.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6528816"/>
            <a:ext cx="11338560" cy="9144"/>
          </a:xfrm>
          <a:prstGeom prst="rect">
            <a:avLst/>
          </a:prstGeom>
          <a:solidFill>
            <a:srgbClr val="D7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164592"/>
            <a:ext cx="109728" cy="329184"/>
          </a:xfrm>
          <a:prstGeom prst="rect">
            <a:avLst/>
          </a:prstGeom>
          <a:solidFill>
            <a:srgbClr val="1E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8872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Comparison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146304"/>
            <a:ext cx="3566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7E2EA"/>
                </a:solidFill>
                <a:latin typeface="Aptos"/>
              </a:defRPr>
            </a:pPr>
            <a:r>
              <a:t>Six required dimensions distilled into one decision 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" y="1078992"/>
          <a:ext cx="1010411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5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661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Durable Functions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Logic Apps + Service Bus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Edge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243D"/>
                          </a:solidFill>
                          <a:latin typeface="Aptos"/>
                        </a:defRPr>
                      </a:pPr>
                      <a:r>
                        <a:t>Development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243D"/>
                          </a:solidFill>
                          <a:latin typeface="Aptos"/>
                        </a:defRPr>
                      </a:pPr>
                      <a:r>
                        <a:t>Faster to build. The orchestration is readable in one Python file.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243D"/>
                          </a:solidFill>
                          <a:latin typeface="Aptos"/>
                        </a:defRPr>
                      </a:pPr>
                      <a:r>
                        <a:t>More setup across Function app, Logic App, Service Bus, Table Storage, and Office 365.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4243D"/>
                          </a:solidFill>
                          <a:latin typeface="Aptos"/>
                        </a:defRPr>
                      </a:pPr>
                      <a:r>
                        <a:t>Durable</a:t>
                      </a:r>
                    </a:p>
                  </a:txBody>
                  <a:tcPr>
                    <a:solidFill>
                      <a:srgbClr val="E0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243D"/>
                          </a:solidFill>
                          <a:latin typeface="Aptos"/>
                        </a:defRPr>
                      </a:pPr>
                      <a:r>
                        <a:t>Testability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243D"/>
                          </a:solidFill>
                          <a:latin typeface="Aptos"/>
                        </a:defRPr>
                      </a:pPr>
                      <a:r>
                        <a:t>Full workflow is easy to run locally with test-durable.http.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243D"/>
                          </a:solidFill>
                          <a:latin typeface="Aptos"/>
                        </a:defRPr>
                      </a:pPr>
                      <a:r>
                        <a:t>Helper code is testable, but the real flow depends on multiple Azure services.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4243D"/>
                          </a:solidFill>
                          <a:latin typeface="Aptos"/>
                        </a:defRPr>
                      </a:pPr>
                      <a:r>
                        <a:t>Durable</a:t>
                      </a:r>
                    </a:p>
                  </a:txBody>
                  <a:tcPr>
                    <a:solidFill>
                      <a:srgbClr val="E0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243D"/>
                          </a:solidFill>
                          <a:latin typeface="Aptos"/>
                        </a:defRPr>
                      </a:pPr>
                      <a:r>
                        <a:t>Error Handling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243D"/>
                          </a:solidFill>
                          <a:latin typeface="Aptos"/>
                        </a:defRPr>
                      </a:pPr>
                      <a:r>
                        <a:t>Code-level control makes retry and recovery logic explicit.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243D"/>
                          </a:solidFill>
                          <a:latin typeface="Aptos"/>
                        </a:defRPr>
                      </a:pPr>
                      <a:r>
                        <a:t>Portal visibility is better, but failure handling is spread across services.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4243D"/>
                          </a:solidFill>
                          <a:latin typeface="Aptos"/>
                        </a:defRPr>
                      </a:pPr>
                      <a:r>
                        <a:t>Mixed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243D"/>
                          </a:solidFill>
                          <a:latin typeface="Aptos"/>
                        </a:defRPr>
                      </a:pPr>
                      <a:r>
                        <a:t>Human Interaction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243D"/>
                          </a:solidFill>
                          <a:latin typeface="Aptos"/>
                        </a:defRPr>
                      </a:pPr>
                      <a:r>
                        <a:t>Native wait_for_external_event + durable timer fits manager approval naturally.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243D"/>
                          </a:solidFill>
                          <a:latin typeface="Aptos"/>
                        </a:defRPr>
                      </a:pPr>
                      <a:r>
                        <a:t>Polling Table Storage every 15s for up to 2 minutes works, but feels like a workaround.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4243D"/>
                          </a:solidFill>
                          <a:latin typeface="Aptos"/>
                        </a:defRPr>
                      </a:pPr>
                      <a:r>
                        <a:t>Durable</a:t>
                      </a:r>
                    </a:p>
                  </a:txBody>
                  <a:tcPr>
                    <a:solidFill>
                      <a:srgbClr val="E0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243D"/>
                          </a:solidFill>
                          <a:latin typeface="Aptos"/>
                        </a:defRPr>
                      </a:pPr>
                      <a:r>
                        <a:t>Observability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243D"/>
                          </a:solidFill>
                          <a:latin typeface="Aptos"/>
                        </a:defRPr>
                      </a:pPr>
                      <a:r>
                        <a:t>Status URLs and instance IDs are useful, but less visual.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243D"/>
                          </a:solidFill>
                          <a:latin typeface="Aptos"/>
                        </a:defRPr>
                      </a:pPr>
                      <a:r>
                        <a:t>Run history is excellent for seeing branches and pinpointing failed steps quickly.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4243D"/>
                          </a:solidFill>
                          <a:latin typeface="Aptos"/>
                        </a:defRPr>
                      </a:pPr>
                      <a:r>
                        <a:t>Logic Apps</a:t>
                      </a:r>
                    </a:p>
                  </a:txBody>
                  <a:tcPr>
                    <a:solidFill>
                      <a:srgbClr val="FCE9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61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243D"/>
                          </a:solidFill>
                          <a:latin typeface="Aptos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243D"/>
                          </a:solidFill>
                          <a:latin typeface="Aptos"/>
                        </a:defRPr>
                      </a:pPr>
                      <a:r>
                        <a:t>~$0-$1/month at 100/day; ~$8-$9/month at 10,000/day.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243D"/>
                          </a:solidFill>
                          <a:latin typeface="Aptos"/>
                        </a:defRPr>
                      </a:pPr>
                      <a:r>
                        <a:t>~$17/month at 100/day; ~$245-$250/month at 10,000/day.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4243D"/>
                          </a:solidFill>
                          <a:latin typeface="Aptos"/>
                        </a:defRPr>
                      </a:pPr>
                      <a:r>
                        <a:t>Durable</a:t>
                      </a:r>
                    </a:p>
                  </a:txBody>
                  <a:tcPr>
                    <a:solidFill>
                      <a:srgbClr val="E0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742432"/>
            <a:ext cx="7726679" cy="612648"/>
          </a:xfrm>
          <a:prstGeom prst="roundRect">
            <a:avLst/>
          </a:prstGeom>
          <a:solidFill>
            <a:srgbClr val="E0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5861304"/>
            <a:ext cx="7360920" cy="182880"/>
          </a:xfrm>
          <a:prstGeom prst="rect">
            <a:avLst/>
          </a:prstGeom>
          <a:noFill/>
        </p:spPr>
        <p:txBody>
          <a:bodyPr wrap="square" lIns="128016" tIns="73152" rIns="128016" bIns="73152">
            <a:spAutoFit/>
          </a:bodyPr>
          <a:lstStyle/>
          <a:p>
            <a:pPr>
              <a:lnSpc>
                <a:spcPct val="110000"/>
              </a:lnSpc>
              <a:defRPr sz="1200" b="1">
                <a:solidFill>
                  <a:srgbClr val="14243D"/>
                </a:solidFill>
                <a:latin typeface="Aptos"/>
              </a:defRPr>
            </a:pPr>
            <a:r>
              <a:t>Overall: Durable Functions wins on implementation fit, local testing, and cost; Logic Apps wins on visual monitoring.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9636" y="5741906"/>
            <a:ext cx="2880360" cy="603504"/>
          </a:xfrm>
          <a:prstGeom prst="roundRect">
            <a:avLst/>
          </a:prstGeom>
          <a:solidFill>
            <a:srgbClr val="FC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0" y="5760720"/>
            <a:ext cx="2514600" cy="320040"/>
          </a:xfrm>
          <a:prstGeom prst="rect">
            <a:avLst/>
          </a:prstGeom>
          <a:noFill/>
        </p:spPr>
        <p:txBody>
          <a:bodyPr wrap="square" lIns="128016" tIns="73152" rIns="128016" bIns="73152">
            <a:spAutoFit/>
          </a:bodyPr>
          <a:lstStyle/>
          <a:p>
            <a:pPr>
              <a:lnSpc>
                <a:spcPct val="110000"/>
              </a:lnSpc>
              <a:defRPr sz="900">
                <a:solidFill>
                  <a:srgbClr val="14243D"/>
                </a:solidFill>
                <a:latin typeface="Aptos"/>
              </a:defRPr>
            </a:pPr>
            <a:r>
              <a:t>Cost assumptions follow Part 3: polling, connectors, helper Function app, and Service Bus Standard drive Version B upward.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28816"/>
            <a:ext cx="11338560" cy="9144"/>
          </a:xfrm>
          <a:prstGeom prst="rect">
            <a:avLst/>
          </a:prstGeom>
          <a:solidFill>
            <a:srgbClr val="D7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6052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164592"/>
            <a:ext cx="109728" cy="329184"/>
          </a:xfrm>
          <a:prstGeom prst="rect">
            <a:avLst/>
          </a:prstGeom>
          <a:solidFill>
            <a:srgbClr val="1E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8872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146304"/>
            <a:ext cx="3566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7E2EA"/>
                </a:solidFill>
                <a:latin typeface="Aptos"/>
              </a:defRPr>
            </a:pPr>
            <a:r>
              <a:t>Pick the orchestration style that matches the hardest part of the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060704"/>
            <a:ext cx="10936224" cy="1179576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298448"/>
            <a:ext cx="10469880" cy="256032"/>
          </a:xfrm>
          <a:prstGeom prst="rect">
            <a:avLst/>
          </a:prstGeom>
          <a:noFill/>
        </p:spPr>
        <p:txBody>
          <a:bodyPr wrap="square" lIns="128016" tIns="73152" rIns="128016" bIns="73152">
            <a:spAutoFit/>
          </a:bodyPr>
          <a:lstStyle/>
          <a:p>
            <a:pPr>
              <a:lnSpc>
                <a:spcPct val="110000"/>
              </a:lnSpc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Recommendation: choose Durable Functions for production for this expense approval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23160"/>
            <a:ext cx="5532120" cy="2788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7552" y="2313432"/>
            <a:ext cx="2011680" cy="329184"/>
          </a:xfrm>
          <a:prstGeom prst="roundRect">
            <a:avLst/>
          </a:prstGeom>
          <a:solidFill>
            <a:srgbClr val="1E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Why Durable Functions Wins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642616"/>
            <a:ext cx="5239512" cy="2478024"/>
          </a:xfrm>
          <a:prstGeom prst="rect">
            <a:avLst/>
          </a:prstGeom>
          <a:noFill/>
        </p:spPr>
        <p:txBody>
          <a:bodyPr wrap="square" lIns="128016" tIns="73152" rIns="128016" bIns="73152">
            <a:spAutoFit/>
          </a:bodyPr>
          <a:lstStyle/>
          <a:p>
            <a:pPr>
              <a:lnSpc>
                <a:spcPct val="110000"/>
              </a:lnSpc>
              <a:defRPr sz="1500">
                <a:solidFill>
                  <a:srgbClr val="14243D"/>
                </a:solidFill>
                <a:latin typeface="Aptos"/>
              </a:defRPr>
            </a:pPr>
            <a:r>
              <a:t>• The manager approval wait is the hardest requirement, and the Durable human interaction pattern handles it cleanly.</a:t>
            </a:r>
          </a:p>
          <a:p>
            <a:pPr>
              <a:lnSpc>
                <a:spcPct val="110000"/>
              </a:lnSpc>
              <a:defRPr sz="1500">
                <a:solidFill>
                  <a:srgbClr val="14243D"/>
                </a:solidFill>
                <a:latin typeface="Aptos"/>
              </a:defRPr>
            </a:pPr>
            <a:r>
              <a:t>• Keeping the rules in one codebase made the workflow easier to trust, review, and change later.</a:t>
            </a:r>
          </a:p>
          <a:p>
            <a:pPr>
              <a:lnSpc>
                <a:spcPct val="110000"/>
              </a:lnSpc>
              <a:defRPr sz="1500">
                <a:solidFill>
                  <a:srgbClr val="14243D"/>
                </a:solidFill>
                <a:latin typeface="Aptos"/>
              </a:defRPr>
            </a:pPr>
            <a:r>
              <a:t>• Local end-to-end testing was more realistic because the same HTTP file exercised the real orchestration.</a:t>
            </a:r>
          </a:p>
          <a:p>
            <a:pPr>
              <a:lnSpc>
                <a:spcPct val="110000"/>
              </a:lnSpc>
              <a:defRPr sz="1500">
                <a:solidFill>
                  <a:srgbClr val="14243D"/>
                </a:solidFill>
                <a:latin typeface="Aptos"/>
              </a:defRPr>
            </a:pPr>
            <a:r>
              <a:t>• The monthly cost stays dramatically lower, especially as request volume grows.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2423160"/>
            <a:ext cx="4617720" cy="2788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793992" y="2313432"/>
            <a:ext cx="2011680" cy="329184"/>
          </a:xfrm>
          <a:prstGeom prst="roundRect">
            <a:avLst/>
          </a:prstGeom>
          <a:solidFill>
            <a:srgbClr val="F2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When Logic Apps Is Still The Better Choice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5704" y="2642616"/>
            <a:ext cx="4325112" cy="2478024"/>
          </a:xfrm>
          <a:prstGeom prst="rect">
            <a:avLst/>
          </a:prstGeom>
          <a:noFill/>
        </p:spPr>
        <p:txBody>
          <a:bodyPr wrap="square" lIns="128016" tIns="73152" rIns="128016" bIns="73152">
            <a:spAutoFit/>
          </a:bodyPr>
          <a:lstStyle/>
          <a:p>
            <a:pPr>
              <a:lnSpc>
                <a:spcPct val="110000"/>
              </a:lnSpc>
              <a:defRPr sz="1500">
                <a:solidFill>
                  <a:srgbClr val="14243D"/>
                </a:solidFill>
                <a:latin typeface="Aptos"/>
              </a:defRPr>
            </a:pPr>
            <a:r>
              <a:t>• The workflow is mostly about wiring together Microsoft 365 or other SaaS connectors.</a:t>
            </a:r>
          </a:p>
          <a:p>
            <a:pPr>
              <a:lnSpc>
                <a:spcPct val="110000"/>
              </a:lnSpc>
              <a:defRPr sz="1500">
                <a:solidFill>
                  <a:srgbClr val="14243D"/>
                </a:solidFill>
                <a:latin typeface="Aptos"/>
              </a:defRPr>
            </a:pPr>
            <a:r>
              <a:t>• The team values a low-code designer and portal-first run inspection more than code-level control.</a:t>
            </a:r>
          </a:p>
          <a:p>
            <a:pPr>
              <a:lnSpc>
                <a:spcPct val="110000"/>
              </a:lnSpc>
              <a:defRPr sz="1500">
                <a:solidFill>
                  <a:srgbClr val="14243D"/>
                </a:solidFill>
                <a:latin typeface="Aptos"/>
              </a:defRPr>
            </a:pPr>
            <a:r>
              <a:t>• Non-developers need to understand the orchestration visually without reading Python.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5559552"/>
            <a:ext cx="1371600" cy="329184"/>
          </a:xfrm>
          <a:prstGeom prst="roundRect">
            <a:avLst/>
          </a:prstGeom>
          <a:solidFill>
            <a:srgbClr val="2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Best fit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4600" y="5559552"/>
            <a:ext cx="1463040" cy="329184"/>
          </a:xfrm>
          <a:prstGeom prst="roundRect">
            <a:avLst/>
          </a:prstGeom>
          <a:solidFill>
            <a:srgbClr val="16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Higher trust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5559552"/>
            <a:ext cx="1417320" cy="329184"/>
          </a:xfrm>
          <a:prstGeom prst="roundRect">
            <a:avLst/>
          </a:prstGeom>
          <a:solidFill>
            <a:srgbClr val="1E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Easier to 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5559552"/>
            <a:ext cx="1554480" cy="329184"/>
          </a:xfrm>
          <a:prstGeom prst="roundRect">
            <a:avLst/>
          </a:prstGeom>
          <a:solidFill>
            <a:srgbClr val="F2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Much lower 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528816"/>
            <a:ext cx="11338560" cy="9144"/>
          </a:xfrm>
          <a:prstGeom prst="rect">
            <a:avLst/>
          </a:prstGeom>
          <a:solidFill>
            <a:srgbClr val="D7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164592"/>
            <a:ext cx="109728" cy="329184"/>
          </a:xfrm>
          <a:prstGeom prst="rect">
            <a:avLst/>
          </a:prstGeom>
          <a:solidFill>
            <a:srgbClr val="1E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8872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146304"/>
            <a:ext cx="3566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7E2EA"/>
                </a:solidFill>
                <a:latin typeface="Aptos"/>
              </a:defRPr>
            </a:pPr>
            <a:r>
              <a:t>What this project made clear after building both versions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5166360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6112" y="1033272"/>
            <a:ext cx="2011680" cy="329184"/>
          </a:xfrm>
          <a:prstGeom prst="roundRect">
            <a:avLst/>
          </a:prstGeom>
          <a:solidFill>
            <a:srgbClr val="F2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What Surprised 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362456"/>
            <a:ext cx="4873752" cy="1609344"/>
          </a:xfrm>
          <a:prstGeom prst="rect">
            <a:avLst/>
          </a:prstGeom>
          <a:noFill/>
        </p:spPr>
        <p:txBody>
          <a:bodyPr wrap="square" lIns="128016" tIns="73152" rIns="128016" bIns="73152">
            <a:spAutoFit/>
          </a:bodyPr>
          <a:lstStyle/>
          <a:p>
            <a:pPr>
              <a:lnSpc>
                <a:spcPct val="110000"/>
              </a:lnSpc>
              <a:defRPr sz="1700">
                <a:solidFill>
                  <a:srgbClr val="14243D"/>
                </a:solidFill>
                <a:latin typeface="Aptos"/>
              </a:defRPr>
            </a:pPr>
            <a:r>
              <a:t>• Logic Apps was easier to watch in the portal than Durable Functions.</a:t>
            </a:r>
          </a:p>
          <a:p>
            <a:pPr>
              <a:lnSpc>
                <a:spcPct val="110000"/>
              </a:lnSpc>
              <a:defRPr sz="1700">
                <a:solidFill>
                  <a:srgbClr val="14243D"/>
                </a:solidFill>
                <a:latin typeface="Aptos"/>
              </a:defRPr>
            </a:pPr>
            <a:r>
              <a:t>• That visual advantage did not make it easier to build a human approval workflow end-to-end.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257800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36792" y="1033272"/>
            <a:ext cx="2011680" cy="329184"/>
          </a:xfrm>
          <a:prstGeom prst="roundRect">
            <a:avLst/>
          </a:prstGeom>
          <a:solidFill>
            <a:srgbClr val="1E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What Worked Well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1362456"/>
            <a:ext cx="4965192" cy="1609344"/>
          </a:xfrm>
          <a:prstGeom prst="rect">
            <a:avLst/>
          </a:prstGeom>
          <a:noFill/>
        </p:spPr>
        <p:txBody>
          <a:bodyPr wrap="square" lIns="128016" tIns="73152" rIns="128016" bIns="73152">
            <a:spAutoFit/>
          </a:bodyPr>
          <a:lstStyle/>
          <a:p>
            <a:pPr>
              <a:lnSpc>
                <a:spcPct val="110000"/>
              </a:lnSpc>
              <a:defRPr sz="1700">
                <a:solidFill>
                  <a:srgbClr val="14243D"/>
                </a:solidFill>
                <a:latin typeface="Aptos"/>
              </a:defRPr>
            </a:pPr>
            <a:r>
              <a:t>• Durable Functions matched the approval and timeout requirements very naturally.</a:t>
            </a:r>
          </a:p>
          <a:p>
            <a:pPr>
              <a:lnSpc>
                <a:spcPct val="110000"/>
              </a:lnSpc>
              <a:defRPr sz="1700">
                <a:solidFill>
                  <a:srgbClr val="14243D"/>
                </a:solidFill>
                <a:latin typeface="Aptos"/>
              </a:defRPr>
            </a:pPr>
            <a:r>
              <a:t>• The Logic App made branch outcomes and run history easy to explain during demos.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01568"/>
            <a:ext cx="5166360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96112" y="3291840"/>
            <a:ext cx="2011680" cy="329184"/>
          </a:xfrm>
          <a:prstGeom prst="roundRect">
            <a:avLst/>
          </a:prstGeom>
          <a:solidFill>
            <a:srgbClr val="16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What I Would Improve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621024"/>
            <a:ext cx="4873752" cy="1655064"/>
          </a:xfrm>
          <a:prstGeom prst="rect">
            <a:avLst/>
          </a:prstGeom>
          <a:noFill/>
        </p:spPr>
        <p:txBody>
          <a:bodyPr wrap="square" lIns="128016" tIns="73152" rIns="128016" bIns="73152">
            <a:spAutoFit/>
          </a:bodyPr>
          <a:lstStyle/>
          <a:p>
            <a:pPr>
              <a:lnSpc>
                <a:spcPct val="110000"/>
              </a:lnSpc>
              <a:defRPr sz="1600">
                <a:solidFill>
                  <a:srgbClr val="14243D"/>
                </a:solidFill>
                <a:latin typeface="Aptos"/>
              </a:defRPr>
            </a:pPr>
            <a:r>
              <a:t>• Add stronger automated tests around both ingress validation and final outcome handling.</a:t>
            </a:r>
          </a:p>
          <a:p>
            <a:pPr>
              <a:lnSpc>
                <a:spcPct val="110000"/>
              </a:lnSpc>
              <a:defRPr sz="1600">
                <a:solidFill>
                  <a:srgbClr val="14243D"/>
                </a:solidFill>
                <a:latin typeface="Aptos"/>
              </a:defRPr>
            </a:pPr>
            <a:r>
              <a:t>• Replace Version B polling with a more event-driven design if Azure constraints allow it.</a:t>
            </a:r>
          </a:p>
          <a:p>
            <a:pPr>
              <a:lnSpc>
                <a:spcPct val="110000"/>
              </a:lnSpc>
              <a:defRPr sz="1600">
                <a:solidFill>
                  <a:srgbClr val="14243D"/>
                </a:solidFill>
                <a:latin typeface="Aptos"/>
              </a:defRPr>
            </a:pPr>
            <a:r>
              <a:t>• Upgrade Version A from logged notifications to a real email integration.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401568"/>
            <a:ext cx="5257800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36792" y="3291840"/>
            <a:ext cx="2011680" cy="329184"/>
          </a:xfrm>
          <a:prstGeom prst="roundRect">
            <a:avLst/>
          </a:prstGeom>
          <a:solidFill>
            <a:srgbClr val="2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Closing Takeaway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3621024"/>
            <a:ext cx="4965192" cy="1655064"/>
          </a:xfrm>
          <a:prstGeom prst="rect">
            <a:avLst/>
          </a:prstGeom>
          <a:noFill/>
        </p:spPr>
        <p:txBody>
          <a:bodyPr wrap="square" lIns="128016" tIns="73152" rIns="128016" bIns="73152">
            <a:spAutoFit/>
          </a:bodyPr>
          <a:lstStyle/>
          <a:p>
            <a:pPr>
              <a:lnSpc>
                <a:spcPct val="110000"/>
              </a:lnSpc>
              <a:defRPr sz="1600">
                <a:solidFill>
                  <a:srgbClr val="14243D"/>
                </a:solidFill>
                <a:latin typeface="Aptos"/>
              </a:defRPr>
            </a:pPr>
            <a:r>
              <a:t>• Building the same rules twice exposed the real trade-offs far better than documentation alone.</a:t>
            </a:r>
          </a:p>
          <a:p>
            <a:pPr>
              <a:lnSpc>
                <a:spcPct val="110000"/>
              </a:lnSpc>
              <a:defRPr sz="1600">
                <a:solidFill>
                  <a:srgbClr val="14243D"/>
                </a:solidFill>
                <a:latin typeface="Aptos"/>
              </a:defRPr>
            </a:pPr>
            <a:r>
              <a:t>• The right platform choice depends on whether your hardest problem is orchestration logic or integration visibility.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" y="5687568"/>
            <a:ext cx="10241280" cy="402336"/>
          </a:xfrm>
          <a:prstGeom prst="round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1480" y="6528816"/>
            <a:ext cx="11338560" cy="9144"/>
          </a:xfrm>
          <a:prstGeom prst="rect">
            <a:avLst/>
          </a:prstGeom>
          <a:solidFill>
            <a:srgbClr val="D7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1128</Words>
  <Application>Microsoft Office PowerPoint</Application>
  <PresentationFormat>Widescreen</PresentationFormat>
  <Paragraphs>130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Obaida Kandakji</cp:lastModifiedBy>
  <cp:revision>1</cp:revision>
  <dcterms:created xsi:type="dcterms:W3CDTF">2013-01-27T09:14:16Z</dcterms:created>
  <dcterms:modified xsi:type="dcterms:W3CDTF">2026-04-22T03:26:58Z</dcterms:modified>
  <cp:category/>
</cp:coreProperties>
</file>